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1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1F1F"/>
                </a:solidFill>
                <a:latin typeface="Calibri"/>
              </a:rPr>
              <a:t>Images per class (100 each)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2E74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Earthquakes</c:v>
                  </c:pt>
                  <c:pt idx="1">
                    <c:v>Floods</c:v>
                  </c:pt>
                  <c:pt idx="2">
                    <c:v>Wildfires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80</c:v>
                </c:pt>
                <c:pt idx="2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9DC3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Earthquakes</c:v>
                  </c:pt>
                  <c:pt idx="1">
                    <c:v>Floods</c:v>
                  </c:pt>
                  <c:pt idx="2">
                    <c:v>Wildfires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1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1F1F"/>
                </a:solidFill>
                <a:latin typeface="Calibri"/>
              </a:rPr>
              <a:t>Weighted metrics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(No Patches)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93.33</c:v>
                </c:pt>
                <c:pt idx="1">
                  <c:v>93.99</c:v>
                </c:pt>
                <c:pt idx="2">
                  <c:v>93.33</c:v>
                </c:pt>
                <c:pt idx="3">
                  <c:v>93.31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 (With Patches)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91.03</c:v>
                </c:pt>
                <c:pt idx="2">
                  <c:v>90</c:v>
                </c:pt>
                <c:pt idx="3">
                  <c:v>89.98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ViT (Patches + Attention)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98.33</c:v>
                </c:pt>
                <c:pt idx="1">
                  <c:v>98.41</c:v>
                </c:pt>
                <c:pt idx="2">
                  <c:v>98.33</c:v>
                </c:pt>
                <c:pt idx="3">
                  <c:v>98.33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1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1F1F"/>
                </a:solidFill>
                <a:latin typeface="Calibri"/>
              </a:rPr>
              <a:t>Change in test accuracy (points)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(points)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6DB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Patches alone (CNN → CNN+Patches)</c:v>
                  </c:pt>
                  <c:pt idx="1">
                    <c:v>Attention on patches (CNN+Patches → ViT)</c:v>
                  </c:pt>
                  <c:pt idx="2">
                    <c:v>Patches + Attention (CNN → ViT)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-3.33</c:v>
                </c:pt>
                <c:pt idx="1">
                  <c:v>8.33</c:v>
                </c:pt>
                <c:pt idx="2">
                  <c:v>5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1400" u="none">
                  <a:solidFill>
                    <a:srgbClr val="1F1F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5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1F1F"/>
                </a:solidFill>
                <a:latin typeface="Calibri"/>
              </a:rPr>
              <a:t>Predicted probability for each class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(No Patches)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Earthquakes</c:v>
                  </c:pt>
                  <c:pt idx="1">
                    <c:v>Floods</c:v>
                  </c:pt>
                  <c:pt idx="2">
                    <c:v>Wildfires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 (With Patches)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Earthquakes</c:v>
                  </c:pt>
                  <c:pt idx="1">
                    <c:v>Floods</c:v>
                  </c:pt>
                  <c:pt idx="2">
                    <c:v>Wildfires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99.61</c:v>
                </c:pt>
                <c:pt idx="1">
                  <c:v>0.38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ViT (Patches + Attention)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Earthquakes</c:v>
                  </c:pt>
                  <c:pt idx="1">
                    <c:v>Floods</c:v>
                  </c:pt>
                  <c:pt idx="2">
                    <c:v>Wildfires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99.97</c:v>
                </c:pt>
                <c:pt idx="1">
                  <c:v>0.02</c:v>
                </c:pt>
                <c:pt idx="2">
                  <c:v>0.01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1F1F"/>
                </a:solidFill>
                <a:latin typeface="Calibri"/>
              </a:rPr>
              <a:t>Predicted probability for each class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(No Patches)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Earthquakes</c:v>
                  </c:pt>
                  <c:pt idx="1">
                    <c:v>Floods</c:v>
                  </c:pt>
                  <c:pt idx="2">
                    <c:v>Wildfires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</c:v>
                </c:pt>
                <c:pt idx="1">
                  <c:v>99.93</c:v>
                </c:pt>
                <c:pt idx="2">
                  <c:v>0.01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 (With Patches)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Earthquakes</c:v>
                  </c:pt>
                  <c:pt idx="1">
                    <c:v>Floods</c:v>
                  </c:pt>
                  <c:pt idx="2">
                    <c:v>Wildfires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100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ViT (Patches + Attention)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Earthquakes</c:v>
                  </c:pt>
                  <c:pt idx="1">
                    <c:v>Floods</c:v>
                  </c:pt>
                  <c:pt idx="2">
                    <c:v>Wildfires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0.01</c:v>
                </c:pt>
                <c:pt idx="1">
                  <c:v>99.84</c:v>
                </c:pt>
                <c:pt idx="2">
                  <c:v>0.15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1F1F"/>
                </a:solidFill>
                <a:latin typeface="Calibri"/>
              </a:rPr>
              <a:t>Predicted probability for each class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(No Patches)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Earthquakes</c:v>
                  </c:pt>
                  <c:pt idx="1">
                    <c:v>Floods</c:v>
                  </c:pt>
                  <c:pt idx="2">
                    <c:v>Wildfires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 (With Patches)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Earthquakes</c:v>
                  </c:pt>
                  <c:pt idx="1">
                    <c:v>Floods</c:v>
                  </c:pt>
                  <c:pt idx="2">
                    <c:v>Wildfires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ViT (Patches + Attention)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Earthquakes</c:v>
                  </c:pt>
                  <c:pt idx="1">
                    <c:v>Floods</c:v>
                  </c:pt>
                  <c:pt idx="2">
                    <c:v>Wildfires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0.02</c:v>
                </c:pt>
                <c:pt idx="1">
                  <c:v>0.01</c:v>
                </c:pt>
                <c:pt idx="2">
                  <c:v>99.97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our-username/DisasterSens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our-username/DisasterSens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CNN, Patch-Based CNN and Vision Transformer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Disaster Image Classification and Automated Alert Generation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417320" y="306324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FB3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17320" y="31272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36758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images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306324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FB3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31272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6758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306324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FB3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31272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6758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0" y="306324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FB3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0" y="31272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98.33%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36758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(ViT)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3891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 Link: </a:t>
            </a:r>
            <a:pPr algn="ctr" indent="0" marL="0">
              <a:buNone/>
            </a:pPr>
            <a:r>
              <a:rPr lang="en-US" sz="2000" b="1" u="sng" dirty="0">
                <a:solidFill>
                  <a:srgbClr val="9CC3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github.com/your-username/DisasterSens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DisasterSense Project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92040"/>
            <a:ext cx="10728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</a:t>
            </a:r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Tariq Mahmood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</a:t>
            </a:r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Taha Masaud (F2023376266)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Meerub Sohail (F2023376374)  ·  Adhab Ahmad (F2023376027)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Theory — Section A1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463040"/>
            <a:ext cx="502920" cy="50292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755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32588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313432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87552" y="2450592"/>
            <a:ext cx="502920" cy="50292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31343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Challenges &amp; Contributions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300984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87552" y="3438144"/>
            <a:ext cx="502920" cy="50292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30098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288536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87552" y="4425696"/>
            <a:ext cx="502920" cy="50292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7552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428853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 Architectures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" y="5276088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7552" y="5413248"/>
            <a:ext cx="502920" cy="50292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7552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527608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17920" y="132588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82512" y="1463040"/>
            <a:ext cx="502920" cy="50292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8251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132588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 &amp; Curves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17920" y="2313432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2450592"/>
            <a:ext cx="502920" cy="50292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82512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231343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Comparison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217920" y="3300984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82512" y="3438144"/>
            <a:ext cx="502920" cy="50292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82512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330098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&amp; Per-Class Metrics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217920" y="4288536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82512" y="4425696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82512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7040880" y="428853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Sample Images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217920" y="5276088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82512" y="5413248"/>
            <a:ext cx="502920" cy="50292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82512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7040880" y="527608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 &amp; Future Work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Why DisasterSense?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585216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Time-critical response: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teams must know quickly what kind of disaster an image shows to send the right help.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slow: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drone, satellite and social-media images by hand is slow and error-prone during emergencies.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that classify images into Earthquakes, Floods or Wildfires and generate an automatic alert.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use patches and self-attention — which of these two ingredients actually improves accuracy?</a:t>
            </a:r>
            <a:endParaRPr lang="en-US" sz="1700" dirty="0"/>
          </a:p>
        </p:txBody>
      </p:sp>
      <p:pic>
        <p:nvPicPr>
          <p:cNvPr id="6" name="Image 0" descr="/tmp/claude-0/-home-claude/acc3d6e7-a28c-5bb7-a882-f02eabaa8247/scratchpad/ppt/photo_earthquak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325880"/>
            <a:ext cx="4754880" cy="2514600"/>
          </a:xfrm>
          <a:prstGeom prst="rect">
            <a:avLst/>
          </a:prstGeom>
        </p:spPr>
      </p:pic>
      <p:pic>
        <p:nvPicPr>
          <p:cNvPr id="7" name="Image 1" descr="/tmp/claude-0/-home-claude/acc3d6e7-a28c-5bb7-a882-f02eabaa8247/scratchpad/ppt/photo_floo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0" y="3977640"/>
            <a:ext cx="2308860" cy="2148840"/>
          </a:xfrm>
          <a:prstGeom prst="rect">
            <a:avLst/>
          </a:prstGeom>
        </p:spPr>
      </p:pic>
      <p:pic>
        <p:nvPicPr>
          <p:cNvPr id="8" name="Image 2" descr="/tmp/claude-0/-home-claude/acc3d6e7-a28c-5bb7-a882-f02eabaa8247/scratchpad/ppt/photo_wildfir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04020" y="3977640"/>
            <a:ext cx="2308860" cy="21488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949440" y="3474720"/>
            <a:ext cx="1188720" cy="292608"/>
          </a:xfrm>
          <a:prstGeom prst="roundRect">
            <a:avLst>
              <a:gd name="adj" fmla="val 375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949440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949440" y="5760720"/>
            <a:ext cx="1188720" cy="292608"/>
          </a:xfrm>
          <a:prstGeom prst="roundRect">
            <a:avLst>
              <a:gd name="adj" fmla="val 375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949440" y="5760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9395460" y="5760720"/>
            <a:ext cx="1188720" cy="292608"/>
          </a:xfrm>
          <a:prstGeom prst="roundRect">
            <a:avLst>
              <a:gd name="adj" fmla="val 375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395460" y="5760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Challenges &amp; Our Contributions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2F6FA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28016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2F6FA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6304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2651760" cy="411480"/>
          </a:xfrm>
          <a:prstGeom prst="roundRect">
            <a:avLst>
              <a:gd name="adj" fmla="val 2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103120"/>
            <a:ext cx="5029200" cy="4023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ambiguity: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rubble, mud, water and smoke look similar across disaster types.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dataset: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300 images — deep networks overfit easily.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first attempt: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CNN/ResNet trained from scratch (no transfer learning) gave results that were too weak.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cause: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CNN-vs-ViT test cannot show whether patches or attention make the difference.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103120"/>
            <a:ext cx="5029200" cy="4023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controlled study: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middle model — CNN with patches but no attention.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protocol: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split, optimizer, learning rate, loss, batch size and early stopping for all models.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finding: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alone −3.33 points; attention on patches +8.33 points.</a:t>
            </a:r>
            <a:endParaRPr lang="en-US" sz="1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module: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severity alerts (CRITICAL / HIGH / MODERATE / VERIFY).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Disaster Dataset (2024–2026) — perfectly balanced, stratified 80/20 split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15544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514600" y="1600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(80%)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89120" y="1600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(20%)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2926080"/>
          <a:ext cx="5577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400800" y="1554480"/>
            <a:ext cx="5212080" cy="4663440"/>
          </a:xfrm>
          <a:prstGeom prst="roundRect">
            <a:avLst>
              <a:gd name="adj" fmla="val 1569"/>
            </a:avLst>
          </a:prstGeom>
          <a:solidFill>
            <a:srgbClr val="F2F6FA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67512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675120" y="2359152"/>
            <a:ext cx="502920" cy="50292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7512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360920" y="22860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→ 224 × 224 pixels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675120" y="3300984"/>
            <a:ext cx="502920" cy="50292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360920" y="322783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(train only)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±15°, horizontal flip, 10% shift, colour jitter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675120" y="4242816"/>
            <a:ext cx="502920" cy="50292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75120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360920" y="4169664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tensor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scaled to [0, 1]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675120" y="5184648"/>
            <a:ext cx="502920" cy="50292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7512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360920" y="5111496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0.5, std 0.5 → range [−1, 1]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 Architectures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changes only ONE ingredient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3520440" cy="96012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842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(No Patches)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43200"/>
            <a:ext cx="315468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ResNet50, ImageNet pre-trained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whole 224×224 image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+ global pooling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3-class output layer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23.5M params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623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96512" y="3657600"/>
            <a:ext cx="173736" cy="36576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60020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600200"/>
            <a:ext cx="3520440" cy="96012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1645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19842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(With Patches)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743200"/>
            <a:ext cx="315468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pre-trained ResNet50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split into 4×4 = 16 patches (56×56)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features simply averaged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attention — patches never interact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5257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23.5M params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5623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Patches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45552" y="3657600"/>
            <a:ext cx="173736" cy="36576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160020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1600200"/>
            <a:ext cx="352044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0" y="1645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19842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2743200"/>
            <a:ext cx="315468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google/vit-base-patch16-224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14×14 = 196 patches (16×16)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layers × 12 attention heads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patch attends to every other patch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5257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85.8M params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5623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Attention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input image to an automatic disaster alert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6459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21992" y="2011680"/>
            <a:ext cx="201168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41448" y="16002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441448" y="1600200"/>
            <a:ext cx="16459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2011680"/>
            <a:ext cx="201168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4256" y="16002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34256" y="1600200"/>
            <a:ext cx="16459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07608" y="2011680"/>
            <a:ext cx="201168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27064" y="16002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27064" y="1600200"/>
            <a:ext cx="16459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Classification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0416" y="2011680"/>
            <a:ext cx="201168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16002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119872" y="1600200"/>
            <a:ext cx="16459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793224" y="2011680"/>
            <a:ext cx="201168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12680" y="16002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12680" y="1600200"/>
            <a:ext cx="16459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Comparison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alert: confidence → severity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6766560" cy="256032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38404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response prioritisation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 – 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 teams; confirm with field reports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– 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before dispatching 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75%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review strongly recommended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680960" y="352044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86384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alert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863840" y="40690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40690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[CRITICAL] EARTHQUAKES DETECTED – Confidence: 100.0%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863840" y="5120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and template-based, so every alert is predictable and auditable.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training function — identical conditions for all three models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486400" cy="420624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</a:tblGrid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epochs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 = 3 (test accuracy)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/ seed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/ 60 images, seed 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Colab, PyTorch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0" y="1554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trained before early stopping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0" y="205740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0" y="2103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9718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83880" y="205740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183880" y="2103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29718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Patches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966960" y="205740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9966960" y="2103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16" name="Text 13"/>
          <p:cNvSpPr txBox="1"/>
          <p:nvPr/>
        </p:nvSpPr>
        <p:spPr>
          <a:xfrm>
            <a:off x="9966960" y="29718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0" y="379476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2F6FA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629400" y="3886200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transfer learning?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model — a simple CNN/ResNet trained from scratch without pre-trained weights — gave results that were too weak on only 240 training images. Using ImageNet pre-trained weights fixed this, and the ViT converged fastest (4 epochs).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vs. test accuracy and loss for each epoch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pic>
        <p:nvPicPr>
          <p:cNvPr id="6" name="Image 0" descr="/tmp/claude-0/-home-claude/acc3d6e7-a28c-5bb7-a882-f02eabaa8247/scratchpad/rep/f_a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086" y="1371600"/>
            <a:ext cx="7841349" cy="2468880"/>
          </a:xfrm>
          <a:prstGeom prst="rect">
            <a:avLst/>
          </a:prstGeom>
        </p:spPr>
      </p:pic>
      <p:pic>
        <p:nvPicPr>
          <p:cNvPr id="7" name="Image 1" descr="/tmp/claude-0/-home-claude/acc3d6e7-a28c-5bb7-a882-f02eabaa8247/scratchpad/rep/f_lo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835" y="3840480"/>
            <a:ext cx="7877851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Model Comparison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the 60-image test set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5819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93.33%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(No Patches)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errors / 60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31821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90.00%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86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(With Patches)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errors / 60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AF4EA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47823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98.33%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486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error / 60  ★ BEST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480560" y="1417320"/>
          <a:ext cx="72237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Vision Transformer Best?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each ingredient separately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60350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50876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40880" y="1691640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6184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alone hurt (−3.33)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20574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56×56 patch only shows a piece of the scene; averaging loses where each piece came from.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858000" y="310896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40880" y="3291840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0" y="32186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fixes it (+8.33)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36576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lets every patch use information from all other patches — local clues become a global picture.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858000" y="470916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0880" y="4892040"/>
            <a:ext cx="411480" cy="4114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48188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(+5.00 vs CNN)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52578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ViT: highest accuracy, precision, recall and F1, only 1 error, fastest convergence, most stable test loss.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model makes its mistakes (rows = true class, columns = predicted)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pic>
        <p:nvPicPr>
          <p:cNvPr id="6" name="Image 0" descr="/tmp/claude-0/-home-claude/acc3d6e7-a28c-5bb7-a882-f02eabaa8247/scratchpad/nb/cell32_im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2526"/>
            <a:ext cx="11064240" cy="32014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8463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9194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4 errors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32180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earthquakes misclassified (2 → Floods, 1 → Wildfires); 1 wildfire → Floods.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48463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49194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Patches: 6 errors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532180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earthquakes wrong (3 → Floods); 1 flood → Wildfires; 1 wildfire → Floods.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0" y="48463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29600" y="49194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ViT: 1 error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532180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floods and wildfires correct; only 1 earthquake predicted as Wildfires.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Precision, Recall &amp; F1-score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pic>
        <p:nvPicPr>
          <p:cNvPr id="5" name="Image 0" descr="/tmp/claude-0/-home-claude/acc3d6e7-a28c-5bb7-a882-f02eabaa8247/scratchpad/rep/f_per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67674"/>
            <a:ext cx="7406640" cy="268257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206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Earthquakes is the hardest class: CNN recall 0.85 and CNN+Patches recall 0.80 — both CNNs over-predict Floods for earthquake images (rubble, mud and water look alike).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(best model)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828800"/>
          <a:ext cx="3566160" cy="237744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731520"/>
                <a:gridCol w="7315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Wildfires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046720" y="44348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EAF4EA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229600" y="45262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ViT per-class score is 0.95 or higher — no class collapses in favour of another.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Sample Images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19456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training, we gave the same new image to all three models. Here are their answers.</a:t>
            </a:r>
            <a:endParaRPr lang="en-US" sz="2000" dirty="0"/>
          </a:p>
        </p:txBody>
      </p:sp>
      <p:pic>
        <p:nvPicPr>
          <p:cNvPr id="4" name="Image 0" descr="/tmp/claude-0/-home-claude/acc3d6e7-a28c-5bb7-a882-f02eabaa8247/scratchpad/ppt/photo_earthquak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3063240"/>
            <a:ext cx="297180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5349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test</a:t>
            </a:r>
            <a:endParaRPr lang="en-US" sz="1800" dirty="0"/>
          </a:p>
        </p:txBody>
      </p:sp>
      <p:pic>
        <p:nvPicPr>
          <p:cNvPr id="6" name="Image 1" descr="/tmp/claude-0/-home-claude/acc3d6e7-a28c-5bb7-a882-f02eabaa8247/scratchpad/ppt/photo_floo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3063240"/>
            <a:ext cx="2971800" cy="2194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617720" y="5349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test</a:t>
            </a:r>
            <a:endParaRPr lang="en-US" sz="1800" dirty="0"/>
          </a:p>
        </p:txBody>
      </p:sp>
      <p:pic>
        <p:nvPicPr>
          <p:cNvPr id="8" name="Image 2" descr="/tmp/claude-0/-home-claude/acc3d6e7-a28c-5bb7-a882-f02eabaa8247/scratchpad/ppt/photo_wildfir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3063240"/>
            <a:ext cx="2971800" cy="21945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046720" y="5349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test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Sample: Earthquake Image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image: earthquakes/502.jpg  ·  True class: Earthquakes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20624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claude/acc3d6e7-a28c-5bb7-a882-f02eabaa8247/scratchpad/ppt/photo_earthqu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79751"/>
            <a:ext cx="3986784" cy="26126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800600"/>
            <a:ext cx="4206240" cy="457200"/>
          </a:xfrm>
          <a:prstGeom prst="roundRect">
            <a:avLst>
              <a:gd name="adj" fmla="val 24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800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CLASS: EARTHQUAKES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394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models answered correctly ✔</a:t>
            </a:r>
            <a:endParaRPr lang="en-US" sz="1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983480" y="1417320"/>
          <a:ext cx="672084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4206240"/>
          <a:ext cx="6675120" cy="1737360"/>
        </p:xfrm>
        <a:graphic>
          <a:graphicData uri="http://schemas.openxmlformats.org/drawingml/2006/table">
            <a:tbl>
              <a:tblPr/>
              <a:tblGrid>
                <a:gridCol w="1828800"/>
                <a:gridCol w="1051560"/>
                <a:gridCol w="1005840"/>
                <a:gridCol w="2057400"/>
                <a:gridCol w="73152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alert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(No Patches)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[CRITICAL] EARTHQUAKES 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(With Patches)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[CRITICAL] EARTHQUAKES 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(Patches + Attention)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[CRITICAL] EARTHQUAKES 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Sample: Flood Image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image: floods/501.jpg  ·  True class: Floods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20624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claude/acc3d6e7-a28c-5bb7-a882-f02eabaa8247/scratchpad/ppt/photo_fl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73284"/>
            <a:ext cx="3986784" cy="22256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800600"/>
            <a:ext cx="4206240" cy="457200"/>
          </a:xfrm>
          <a:prstGeom prst="roundRect">
            <a:avLst>
              <a:gd name="adj" fmla="val 24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800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CLASS: FLOODS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394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models answered correctly ✔</a:t>
            </a:r>
            <a:endParaRPr lang="en-US" sz="1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983480" y="1417320"/>
          <a:ext cx="672084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4206240"/>
          <a:ext cx="6675120" cy="1737360"/>
        </p:xfrm>
        <a:graphic>
          <a:graphicData uri="http://schemas.openxmlformats.org/drawingml/2006/table">
            <a:tbl>
              <a:tblPr/>
              <a:tblGrid>
                <a:gridCol w="1828800"/>
                <a:gridCol w="1051560"/>
                <a:gridCol w="1005840"/>
                <a:gridCol w="2057400"/>
                <a:gridCol w="73152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alert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(No Patches)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[CRITICAL] FLOODS 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(With Patches)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[CRITICAL] FLOODS 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(Patches + Attention)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[CRITICAL] FLOODS 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Sample: Wildfire Image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image: wildfires/509.jpg  ·  True class: Wildfires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20624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claude/acc3d6e7-a28c-5bb7-a882-f02eabaa8247/scratchpad/ppt/photo_wildf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82961"/>
            <a:ext cx="3986784" cy="220627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800600"/>
            <a:ext cx="4206240" cy="457200"/>
          </a:xfrm>
          <a:prstGeom prst="roundRect">
            <a:avLst>
              <a:gd name="adj" fmla="val 24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800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CLASS: WILDFIRES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394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models answered correctly ✔</a:t>
            </a:r>
            <a:endParaRPr lang="en-US" sz="1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983480" y="1417320"/>
          <a:ext cx="672084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4206240"/>
          <a:ext cx="6675120" cy="1737360"/>
        </p:xfrm>
        <a:graphic>
          <a:graphicData uri="http://schemas.openxmlformats.org/drawingml/2006/table">
            <a:tbl>
              <a:tblPr/>
              <a:tblGrid>
                <a:gridCol w="1828800"/>
                <a:gridCol w="1051560"/>
                <a:gridCol w="1005840"/>
                <a:gridCol w="2057400"/>
                <a:gridCol w="73152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alert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(No Patches)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Wildfires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[CRITICAL] WILDFIRES 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(With Patches)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Wildfires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[CRITICAL] WILDFIRES 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(Patches + Attention)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Wildfires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[CRITICAL] WILDFIRES 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Summary: Answers of All Models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651760"/>
        </p:xfrm>
        <a:graphic>
          <a:graphicData uri="http://schemas.openxmlformats.org/drawingml/2006/table">
            <a:tbl>
              <a:tblPr/>
              <a:tblGrid>
                <a:gridCol w="3108960"/>
                <a:gridCol w="2651760"/>
                <a:gridCol w="2651760"/>
                <a:gridCol w="26517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image (true class)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(No Patches)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(With Patches)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(Patches + Attention)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 — earthquakes/502.jpg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Earthquakes · 100.00% 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Earthquakes · 99.61% 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Earthquakes · 99.97% 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 — floods/501.jpg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Floods · 99.93% 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Floods · 100.00% 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Floods · 99.84% 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Wildfire — wildfires/509.jpg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Wildfires · 100.00% 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Wildfires · 100.00% 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Wildfires · 99.97% 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generated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(all 3 images)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(all 3 images)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(all 3 images)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48640" y="44348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on the sample images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43434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297680" y="44348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99.6%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 every correct answer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0" y="43434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046720" y="44348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vs 4 vs 6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on the full 60-image test set (ViT vs CNN vs CNN+Patches)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4846320"/>
          </a:xfrm>
          <a:prstGeom prst="roundRect">
            <a:avLst>
              <a:gd name="adj" fmla="val 1818"/>
            </a:avLst>
          </a:prstGeom>
          <a:solidFill>
            <a:srgbClr val="EAF4EA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51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98.33%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03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297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0.9833 · Precision 0.9841 · 1 error / 60 · 4 epochs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463040"/>
            <a:ext cx="6675120" cy="4754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comparison: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trained under identical conditions on 300 images (max 30 epochs).</a:t>
            </a:r>
            <a:endParaRPr lang="en-US" sz="20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alone are not enough: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with patches dropped to 90.00% (−3.33 points).</a:t>
            </a:r>
            <a:endParaRPr lang="en-US" sz="20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the key ingredient: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over patches raised accuracy to 98.33% (+8.33 points).</a:t>
            </a:r>
            <a:endParaRPr lang="en-US" sz="20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matters: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from-scratch CNN was too weak; pre-trained weights fixed this.</a:t>
            </a:r>
            <a:endParaRPr lang="en-US" sz="20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output: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becomes a clear severity alert for emergency responders.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DisasterSense — ML Theory Project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2F6FA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28016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2F6FA"/>
          </a:solidFill>
          <a:ln w="9525">
            <a:solidFill>
              <a:srgbClr val="D6DF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6304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057400"/>
            <a:ext cx="5029200" cy="4023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dataset: 300 images, only 60 for testing (1 error = 1.67 points).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used test accuracy — no separate validation split.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single-label classes; real disasters can overlap.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is 3.6× larger than the CNNs (85.8M vs 23.5M parameters).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text is rule-based and fixed.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57400"/>
            <a:ext cx="5029200" cy="4023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 with more disaster types (hurricanes, tsunamis, landslides).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 and k-fold cross-validation.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Attention-map visualisation to explain ViT decisions.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classification for compound disasters.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web app (Streamlit / Gradio) and optimise for edge devices.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 Link: </a:t>
            </a:r>
            <a:pPr algn="ctr" indent="0" marL="0">
              <a:buNone/>
            </a:pPr>
            <a:r>
              <a:rPr lang="en-US" sz="2000" b="1" u="sng" dirty="0">
                <a:solidFill>
                  <a:srgbClr val="9CC3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github.com/your-username/DisasterSens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github.com/your-username/DisasterSense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720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Taha Masaud  ·  Meerub Sohail  ·  Adhab Ahmad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0292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Sir Tariq Mahmood — Machine Learning Theory, Section A1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DisasterSense — CNN vs Patch-CNN vs Vision Transformer</dc:title>
  <dc:subject>PptxGenJS Presentation</dc:subject>
  <dc:creator>Muhammad Taha Masaud, Meerub Sohail, Adhab Ahmad</dc:creator>
  <cp:lastModifiedBy>Muhammad Taha Masaud, Meerub Sohail, Adhab Ahmad</cp:lastModifiedBy>
  <cp:revision>1</cp:revision>
  <dcterms:created xsi:type="dcterms:W3CDTF">2026-09-16T19:12:34Z</dcterms:created>
  <dcterms:modified xsi:type="dcterms:W3CDTF">2026-09-16T19:12:34Z</dcterms:modified>
</cp:coreProperties>
</file>